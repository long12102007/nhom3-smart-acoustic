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10" Type="http://schemas.openxmlformats.org/officeDocument/2006/relationships/image" Target="../media/image6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318500" y="4381628"/>
            <a:ext cx="115503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900" lIns="125875" spcFirstLastPara="1" rIns="125875" wrap="square" tIns="62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318500" y="4381628"/>
            <a:ext cx="11550300" cy="159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62900" lIns="125875" spcFirstLastPara="1" rIns="125875" wrap="square" tIns="62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18500" y="1269789"/>
            <a:ext cx="12192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6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ĐỒ ÁN MÔN HỌC • CÔNG NGHỆ KỸ THUẬT MÁY TÍNH</a:t>
            </a:r>
            <a:endParaRPr sz="2527"/>
          </a:p>
        </p:txBody>
      </p:sp>
      <p:sp>
        <p:nvSpPr>
          <p:cNvPr id="87" name="Google Shape;87;p13"/>
          <p:cNvSpPr txBox="1"/>
          <p:nvPr/>
        </p:nvSpPr>
        <p:spPr>
          <a:xfrm>
            <a:off x="318500" y="1781722"/>
            <a:ext cx="11843400" cy="7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56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Trợ lý Giám sát Trẻ em bằng âm thanh</a:t>
            </a:r>
            <a:endParaRPr sz="1927"/>
          </a:p>
        </p:txBody>
      </p:sp>
      <p:sp>
        <p:nvSpPr>
          <p:cNvPr id="88" name="Google Shape;88;p13"/>
          <p:cNvSpPr txBox="1"/>
          <p:nvPr/>
        </p:nvSpPr>
        <p:spPr>
          <a:xfrm>
            <a:off x="318500" y="2985450"/>
            <a:ext cx="101514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Hệ thống thu âm thông minh kết hợp Edge AI (TinyML) trên ESP32 và ứng dụng quản lý đám mây</a:t>
            </a:r>
            <a:endParaRPr sz="2527"/>
          </a:p>
        </p:txBody>
      </p:sp>
      <p:sp>
        <p:nvSpPr>
          <p:cNvPr id="89" name="Google Shape;89;p13"/>
          <p:cNvSpPr txBox="1"/>
          <p:nvPr/>
        </p:nvSpPr>
        <p:spPr>
          <a:xfrm>
            <a:off x="318500" y="4769450"/>
            <a:ext cx="2485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2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Giảng viên hướng dẫn</a:t>
            </a:r>
            <a:endParaRPr sz="2327"/>
          </a:p>
        </p:txBody>
      </p:sp>
      <p:sp>
        <p:nvSpPr>
          <p:cNvPr id="90" name="Google Shape;90;p13"/>
          <p:cNvSpPr txBox="1"/>
          <p:nvPr/>
        </p:nvSpPr>
        <p:spPr>
          <a:xfrm>
            <a:off x="318500" y="5158000"/>
            <a:ext cx="24858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Th.S. Huỳnh Hoàng Hà</a:t>
            </a:r>
            <a:endParaRPr sz="1927"/>
          </a:p>
        </p:txBody>
      </p:sp>
      <p:sp>
        <p:nvSpPr>
          <p:cNvPr id="91" name="Google Shape;91;p13"/>
          <p:cNvSpPr txBox="1"/>
          <p:nvPr/>
        </p:nvSpPr>
        <p:spPr>
          <a:xfrm>
            <a:off x="2760516" y="4782581"/>
            <a:ext cx="40482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2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Nhóm sinh viên thực hiện</a:t>
            </a:r>
            <a:endParaRPr sz="2327"/>
          </a:p>
        </p:txBody>
      </p:sp>
      <p:sp>
        <p:nvSpPr>
          <p:cNvPr id="92" name="Google Shape;92;p13"/>
          <p:cNvSpPr txBox="1"/>
          <p:nvPr/>
        </p:nvSpPr>
        <p:spPr>
          <a:xfrm>
            <a:off x="2760527" y="5158000"/>
            <a:ext cx="49617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Lê Đỗ Minh Chiến | Huỳnh Ngọc Bảo Long</a:t>
            </a:r>
            <a:endParaRPr sz="1927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609600" y="533400"/>
            <a:ext cx="11582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Tổng quan &amp; Tính cấp thiết</a:t>
            </a:r>
            <a:endParaRPr sz="3100"/>
          </a:p>
        </p:txBody>
      </p:sp>
      <p:sp>
        <p:nvSpPr>
          <p:cNvPr id="98" name="Google Shape;98;p14"/>
          <p:cNvSpPr txBox="1"/>
          <p:nvPr/>
        </p:nvSpPr>
        <p:spPr>
          <a:xfrm>
            <a:off x="609600" y="1228900"/>
            <a:ext cx="11582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Giải quyết bài toán giám sát an toàn cho trẻ nhỏ trong đời sống hiện đại</a:t>
            </a:r>
            <a:endParaRPr sz="3100"/>
          </a:p>
        </p:txBody>
      </p:sp>
      <p:sp>
        <p:nvSpPr>
          <p:cNvPr id="99" name="Google Shape;99;p14"/>
          <p:cNvSpPr txBox="1"/>
          <p:nvPr/>
        </p:nvSpPr>
        <p:spPr>
          <a:xfrm>
            <a:off x="396450" y="2551600"/>
            <a:ext cx="61758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Hạn chế phương pháp cũ</a:t>
            </a:r>
            <a:endParaRPr sz="3100"/>
          </a:p>
        </p:txBody>
      </p:sp>
      <p:sp>
        <p:nvSpPr>
          <p:cNvPr id="100" name="Google Shape;100;p14"/>
          <p:cNvSpPr txBox="1"/>
          <p:nvPr/>
        </p:nvSpPr>
        <p:spPr>
          <a:xfrm>
            <a:off x="396450" y="3131075"/>
            <a:ext cx="5881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Camera:</a:t>
            </a:r>
            <a:r>
              <a:rPr b="0" i="0" lang="en-US" sz="2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Nguy cơ rò rỉ riêng tư không gian sinh hoạt cá nhân.</a:t>
            </a:r>
            <a:endParaRPr sz="3100"/>
          </a:p>
        </p:txBody>
      </p:sp>
      <p:sp>
        <p:nvSpPr>
          <p:cNvPr id="101" name="Google Shape;101;p14"/>
          <p:cNvSpPr txBox="1"/>
          <p:nvPr/>
        </p:nvSpPr>
        <p:spPr>
          <a:xfrm>
            <a:off x="396450" y="4133850"/>
            <a:ext cx="4800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Cảm biến ngưỡng:</a:t>
            </a:r>
            <a:r>
              <a:rPr b="0" i="0" lang="en-US" sz="2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Dễ gây báo động giả do tạp âm sinh hoạt (tivi, quạt).</a:t>
            </a:r>
            <a:endParaRPr sz="3100"/>
          </a:p>
        </p:txBody>
      </p:sp>
      <p:sp>
        <p:nvSpPr>
          <p:cNvPr id="102" name="Google Shape;102;p14"/>
          <p:cNvSpPr txBox="1"/>
          <p:nvPr/>
        </p:nvSpPr>
        <p:spPr>
          <a:xfrm>
            <a:off x="6509325" y="2551600"/>
            <a:ext cx="56199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Giải pháp Edge AI đề xuất</a:t>
            </a:r>
            <a:endParaRPr sz="3100"/>
          </a:p>
        </p:txBody>
      </p:sp>
      <p:sp>
        <p:nvSpPr>
          <p:cNvPr id="103" name="Google Shape;103;p14"/>
          <p:cNvSpPr txBox="1"/>
          <p:nvPr/>
        </p:nvSpPr>
        <p:spPr>
          <a:xfrm>
            <a:off x="6509325" y="3131075"/>
            <a:ext cx="4800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Xử lý tại biên:</a:t>
            </a:r>
            <a:r>
              <a:rPr b="0" i="0" lang="en-US" sz="2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Nhận diện tiếng khóc trực tiếp trên vi điều khiển ESP32.</a:t>
            </a:r>
            <a:endParaRPr sz="3100"/>
          </a:p>
        </p:txBody>
      </p:sp>
      <p:sp>
        <p:nvSpPr>
          <p:cNvPr id="104" name="Google Shape;104;p14"/>
          <p:cNvSpPr txBox="1"/>
          <p:nvPr/>
        </p:nvSpPr>
        <p:spPr>
          <a:xfrm>
            <a:off x="6572250" y="4580250"/>
            <a:ext cx="4800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Bảo mật tuyệt đối:</a:t>
            </a:r>
            <a:r>
              <a:rPr b="0" i="0" lang="en-US" sz="2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Không truyền dữ liệu âm thanh thô lên không gian mạng.</a:t>
            </a:r>
            <a:endParaRPr sz="3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609600" y="3090862"/>
            <a:ext cx="2600325" cy="1695450"/>
          </a:xfrm>
          <a:prstGeom prst="roundRect">
            <a:avLst>
              <a:gd fmla="val 674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3400425" y="3090862"/>
            <a:ext cx="2600325" cy="1695450"/>
          </a:xfrm>
          <a:prstGeom prst="roundRect">
            <a:avLst>
              <a:gd fmla="val 674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191250" y="3090862"/>
            <a:ext cx="2600325" cy="1695450"/>
          </a:xfrm>
          <a:prstGeom prst="roundRect">
            <a:avLst>
              <a:gd fmla="val 674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8982075" y="3090862"/>
            <a:ext cx="2600325" cy="1695450"/>
          </a:xfrm>
          <a:prstGeom prst="roundRect">
            <a:avLst>
              <a:gd fmla="val 674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162" y="33194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1987" y="33194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2812" y="33194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53637" y="33194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38325" y="345281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5337" y="34528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72350" y="345281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10800" y="3452812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09600" y="795550"/>
            <a:ext cx="11582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Kiến trúc tổng thể hệ thống</a:t>
            </a:r>
            <a:endParaRPr sz="2700"/>
          </a:p>
        </p:txBody>
      </p:sp>
      <p:sp>
        <p:nvSpPr>
          <p:cNvPr id="122" name="Google Shape;122;p15"/>
          <p:cNvSpPr txBox="1"/>
          <p:nvPr/>
        </p:nvSpPr>
        <p:spPr>
          <a:xfrm>
            <a:off x="609600" y="1952450"/>
            <a:ext cx="1158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Luồng xử lý khép kín từ phần cứng nhúng đến ứng dụng di động đám mây</a:t>
            </a:r>
            <a:endParaRPr sz="2700"/>
          </a:p>
        </p:txBody>
      </p:sp>
      <p:sp>
        <p:nvSpPr>
          <p:cNvPr id="123" name="Google Shape;123;p15"/>
          <p:cNvSpPr txBox="1"/>
          <p:nvPr/>
        </p:nvSpPr>
        <p:spPr>
          <a:xfrm>
            <a:off x="503336" y="3929062"/>
            <a:ext cx="281285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Thu âm INMP441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0309" y="4195762"/>
            <a:ext cx="267890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Giao tiếp I2S số 16 kHz, 16-bit, kênh trái.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3294161" y="3929062"/>
            <a:ext cx="281285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Xử lý Edge AI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3361134" y="4195762"/>
            <a:ext cx="267890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Spectrogram FFT kết hợp mạng CNN 1D (INT8).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084986" y="3929062"/>
            <a:ext cx="281285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Đám mây Firebase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151959" y="4195762"/>
            <a:ext cx="267890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Realtime Database đồng bộ trạng thái thời gian thực.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875811" y="3929062"/>
            <a:ext cx="281285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Ứng dụng di động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942784" y="4195762"/>
            <a:ext cx="267890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React Native hiển thị lịch sử và phát chuông cảnh báo.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609600" y="2962275"/>
            <a:ext cx="5353050" cy="1952625"/>
          </a:xfrm>
          <a:prstGeom prst="roundRect">
            <a:avLst>
              <a:gd fmla="val 585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6229350" y="2809875"/>
            <a:ext cx="5353200" cy="2295300"/>
          </a:xfrm>
          <a:prstGeom prst="roundRect">
            <a:avLst>
              <a:gd fmla="val 506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09600" y="533400"/>
            <a:ext cx="1158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Thiết kế phần cứng &amp; Firmware nhúng</a:t>
            </a:r>
            <a:endParaRPr sz="2400"/>
          </a:p>
        </p:txBody>
      </p:sp>
      <p:sp>
        <p:nvSpPr>
          <p:cNvPr id="138" name="Google Shape;138;p16"/>
          <p:cNvSpPr txBox="1"/>
          <p:nvPr/>
        </p:nvSpPr>
        <p:spPr>
          <a:xfrm>
            <a:off x="672500" y="1396675"/>
            <a:ext cx="1158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Tối ưu hóa phần cứng ESP32-WROOM-32 kết hợp cảm biến INMP441</a:t>
            </a:r>
            <a:endParaRPr sz="2400"/>
          </a:p>
        </p:txBody>
      </p:sp>
      <p:sp>
        <p:nvSpPr>
          <p:cNvPr id="139" name="Google Shape;139;p16"/>
          <p:cNvSpPr txBox="1"/>
          <p:nvPr/>
        </p:nvSpPr>
        <p:spPr>
          <a:xfrm>
            <a:off x="914400" y="3267075"/>
            <a:ext cx="4301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Sơ đồ kết nối I2S</a:t>
            </a:r>
            <a:endParaRPr sz="2000"/>
          </a:p>
        </p:txBody>
      </p:sp>
      <p:sp>
        <p:nvSpPr>
          <p:cNvPr id="140" name="Google Shape;140;p16"/>
          <p:cNvSpPr txBox="1"/>
          <p:nvPr/>
        </p:nvSpPr>
        <p:spPr>
          <a:xfrm>
            <a:off x="914400" y="3619500"/>
            <a:ext cx="416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WS (Word Select):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Chân GPIO 15</a:t>
            </a:r>
            <a:endParaRPr sz="2000"/>
          </a:p>
        </p:txBody>
      </p:sp>
      <p:sp>
        <p:nvSpPr>
          <p:cNvPr id="141" name="Google Shape;141;p16"/>
          <p:cNvSpPr txBox="1"/>
          <p:nvPr/>
        </p:nvSpPr>
        <p:spPr>
          <a:xfrm>
            <a:off x="914400" y="3886200"/>
            <a:ext cx="416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SCK (Bit Clock):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Chân GPIO 14</a:t>
            </a:r>
            <a:endParaRPr sz="2000"/>
          </a:p>
        </p:txBody>
      </p:sp>
      <p:sp>
        <p:nvSpPr>
          <p:cNvPr id="142" name="Google Shape;142;p16"/>
          <p:cNvSpPr txBox="1"/>
          <p:nvPr/>
        </p:nvSpPr>
        <p:spPr>
          <a:xfrm>
            <a:off x="914400" y="4152900"/>
            <a:ext cx="416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SD (Serial Data):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Chân GPIO 32</a:t>
            </a:r>
            <a:endParaRPr sz="2000"/>
          </a:p>
        </p:txBody>
      </p:sp>
      <p:sp>
        <p:nvSpPr>
          <p:cNvPr id="143" name="Google Shape;143;p16"/>
          <p:cNvSpPr txBox="1"/>
          <p:nvPr/>
        </p:nvSpPr>
        <p:spPr>
          <a:xfrm>
            <a:off x="914400" y="4419600"/>
            <a:ext cx="380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L/R: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Nối mass (kênh trái)</a:t>
            </a:r>
            <a:endParaRPr sz="2000"/>
          </a:p>
        </p:txBody>
      </p:sp>
      <p:sp>
        <p:nvSpPr>
          <p:cNvPr id="144" name="Google Shape;144;p16"/>
          <p:cNvSpPr txBox="1"/>
          <p:nvPr/>
        </p:nvSpPr>
        <p:spPr>
          <a:xfrm>
            <a:off x="6534150" y="3114675"/>
            <a:ext cx="565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Đặc điểm kỹ thuật Firmware</a:t>
            </a:r>
            <a:endParaRPr sz="1900"/>
          </a:p>
        </p:txBody>
      </p:sp>
      <p:sp>
        <p:nvSpPr>
          <p:cNvPr id="145" name="Google Shape;145;p16"/>
          <p:cNvSpPr txBox="1"/>
          <p:nvPr/>
        </p:nvSpPr>
        <p:spPr>
          <a:xfrm>
            <a:off x="6534150" y="3467100"/>
            <a:ext cx="483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Cấu hình linh hoạt:</a:t>
            </a:r>
            <a:r>
              <a:rPr b="0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Web Server AP Mode lưu cấu hình qua EEPROM.</a:t>
            </a:r>
            <a:endParaRPr sz="1900"/>
          </a:p>
        </p:txBody>
      </p:sp>
      <p:sp>
        <p:nvSpPr>
          <p:cNvPr id="146" name="Google Shape;146;p16"/>
          <p:cNvSpPr txBox="1"/>
          <p:nvPr/>
        </p:nvSpPr>
        <p:spPr>
          <a:xfrm>
            <a:off x="6534150" y="4060625"/>
            <a:ext cx="4838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Chống treo CPU:</a:t>
            </a:r>
            <a:r>
              <a:rPr b="0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Tối ưu hóa thời gian đọc I2S.</a:t>
            </a:r>
            <a:endParaRPr sz="1900"/>
          </a:p>
        </p:txBody>
      </p:sp>
      <p:sp>
        <p:nvSpPr>
          <p:cNvPr id="147" name="Google Shape;147;p16"/>
          <p:cNvSpPr txBox="1"/>
          <p:nvPr/>
        </p:nvSpPr>
        <p:spPr>
          <a:xfrm>
            <a:off x="6534150" y="4475875"/>
            <a:ext cx="483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Đồng bộ thời gian:</a:t>
            </a:r>
            <a:r>
              <a:rPr b="0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NTP đảm bảo xác thực SSL ổn định với Firebase.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609600" y="3000375"/>
            <a:ext cx="5353200" cy="2021100"/>
          </a:xfrm>
          <a:prstGeom prst="roundRect">
            <a:avLst>
              <a:gd fmla="val 609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6229350" y="3000375"/>
            <a:ext cx="5467200" cy="2262300"/>
          </a:xfrm>
          <a:prstGeom prst="roundRect">
            <a:avLst>
              <a:gd fmla="val 677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09600" y="533400"/>
            <a:ext cx="11582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Xây dựng mô hình Edge AI (Edge Impulse)</a:t>
            </a:r>
            <a:endParaRPr sz="2300"/>
          </a:p>
        </p:txBody>
      </p:sp>
      <p:sp>
        <p:nvSpPr>
          <p:cNvPr id="155" name="Google Shape;155;p17"/>
          <p:cNvSpPr txBox="1"/>
          <p:nvPr/>
        </p:nvSpPr>
        <p:spPr>
          <a:xfrm>
            <a:off x="609600" y="1291825"/>
            <a:ext cx="11582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Quy trình xử lý tín hiệu âm thanh và học máy nhúng TinyML</a:t>
            </a:r>
            <a:endParaRPr sz="2300"/>
          </a:p>
        </p:txBody>
      </p:sp>
      <p:sp>
        <p:nvSpPr>
          <p:cNvPr id="156" name="Google Shape;156;p17"/>
          <p:cNvSpPr txBox="1"/>
          <p:nvPr/>
        </p:nvSpPr>
        <p:spPr>
          <a:xfrm>
            <a:off x="766050" y="3144300"/>
            <a:ext cx="6225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Dữ liệu huấn luyện</a:t>
            </a:r>
            <a:endParaRPr sz="1900"/>
          </a:p>
        </p:txBody>
      </p:sp>
      <p:sp>
        <p:nvSpPr>
          <p:cNvPr id="157" name="Google Shape;157;p17"/>
          <p:cNvSpPr txBox="1"/>
          <p:nvPr/>
        </p:nvSpPr>
        <p:spPr>
          <a:xfrm>
            <a:off x="766050" y="3545850"/>
            <a:ext cx="5929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Quy mô:</a:t>
            </a:r>
            <a:r>
              <a:rPr b="0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864 mẫu tổng thời lượng 17 phút 07 giây.</a:t>
            </a:r>
            <a:endParaRPr sz="1900"/>
          </a:p>
        </p:txBody>
      </p:sp>
      <p:sp>
        <p:nvSpPr>
          <p:cNvPr id="158" name="Google Shape;158;p17"/>
          <p:cNvSpPr txBox="1"/>
          <p:nvPr/>
        </p:nvSpPr>
        <p:spPr>
          <a:xfrm>
            <a:off x="797509" y="3916050"/>
            <a:ext cx="5929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Phân lớp:</a:t>
            </a:r>
            <a:r>
              <a:rPr b="0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Lớp crying (32%) và lớp noise (68%).</a:t>
            </a:r>
            <a:endParaRPr sz="1900"/>
          </a:p>
        </p:txBody>
      </p:sp>
      <p:sp>
        <p:nvSpPr>
          <p:cNvPr id="159" name="Google Shape;159;p17"/>
          <p:cNvSpPr txBox="1"/>
          <p:nvPr/>
        </p:nvSpPr>
        <p:spPr>
          <a:xfrm>
            <a:off x="766050" y="4333025"/>
            <a:ext cx="524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Nguồn dữ liệu:</a:t>
            </a:r>
            <a:r>
              <a:rPr b="0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60% thu thực tế bằng INMP441, 40% từ nguồn công khai.</a:t>
            </a:r>
            <a:endParaRPr sz="1900"/>
          </a:p>
        </p:txBody>
      </p:sp>
      <p:sp>
        <p:nvSpPr>
          <p:cNvPr id="160" name="Google Shape;160;p17"/>
          <p:cNvSpPr txBox="1"/>
          <p:nvPr/>
        </p:nvSpPr>
        <p:spPr>
          <a:xfrm>
            <a:off x="6534000" y="3152550"/>
            <a:ext cx="565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Trích xuất đặc trưng &amp; Mạng</a:t>
            </a:r>
            <a:endParaRPr sz="1900"/>
          </a:p>
        </p:txBody>
      </p:sp>
      <p:sp>
        <p:nvSpPr>
          <p:cNvPr id="161" name="Google Shape;161;p17"/>
          <p:cNvSpPr txBox="1"/>
          <p:nvPr/>
        </p:nvSpPr>
        <p:spPr>
          <a:xfrm>
            <a:off x="6534000" y="3545850"/>
            <a:ext cx="4952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DSP Spectrogram:</a:t>
            </a:r>
            <a:r>
              <a:rPr b="0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99 khung × 65 tần số = 6.435 giá trị đầu vào.</a:t>
            </a:r>
            <a:endParaRPr sz="1900"/>
          </a:p>
        </p:txBody>
      </p:sp>
      <p:sp>
        <p:nvSpPr>
          <p:cNvPr id="162" name="Google Shape;162;p17"/>
          <p:cNvSpPr txBox="1"/>
          <p:nvPr/>
        </p:nvSpPr>
        <p:spPr>
          <a:xfrm>
            <a:off x="6534150" y="4255350"/>
            <a:ext cx="4952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Kiến trúc CNN 1D:</a:t>
            </a:r>
            <a:r>
              <a:rPr b="0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Conv1D (8 filter) → Dense (256) → Softmax.</a:t>
            </a:r>
            <a:endParaRPr sz="1900"/>
          </a:p>
        </p:txBody>
      </p:sp>
      <p:sp>
        <p:nvSpPr>
          <p:cNvPr id="163" name="Google Shape;163;p17"/>
          <p:cNvSpPr txBox="1"/>
          <p:nvPr/>
        </p:nvSpPr>
        <p:spPr>
          <a:xfrm>
            <a:off x="6534150" y="4856225"/>
            <a:ext cx="5658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Lượng tử hóa:</a:t>
            </a:r>
            <a:r>
              <a:rPr b="0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INT8 toàn phần qua EON Compiler.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609600" y="3119437"/>
            <a:ext cx="3505200" cy="1638300"/>
          </a:xfrm>
          <a:prstGeom prst="roundRect">
            <a:avLst>
              <a:gd fmla="val 697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4343400" y="3214687"/>
            <a:ext cx="3505200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8077200" y="3214687"/>
            <a:ext cx="3505200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609600" y="533400"/>
            <a:ext cx="1158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Kết quả huấn luyện AI &amp; Hiệu năng thiết bị</a:t>
            </a:r>
            <a:endParaRPr sz="2400"/>
          </a:p>
        </p:txBody>
      </p:sp>
      <p:sp>
        <p:nvSpPr>
          <p:cNvPr id="172" name="Google Shape;172;p18"/>
          <p:cNvSpPr txBox="1"/>
          <p:nvPr/>
        </p:nvSpPr>
        <p:spPr>
          <a:xfrm>
            <a:off x="609600" y="1459600"/>
            <a:ext cx="1158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Đánh giá độ chính xác mô hình và tốc độ suy luận trên vi điều khiển</a:t>
            </a:r>
            <a:endParaRPr sz="2400"/>
          </a:p>
        </p:txBody>
      </p:sp>
      <p:sp>
        <p:nvSpPr>
          <p:cNvPr id="173" name="Google Shape;173;p18"/>
          <p:cNvSpPr txBox="1"/>
          <p:nvPr/>
        </p:nvSpPr>
        <p:spPr>
          <a:xfrm>
            <a:off x="504825" y="3386137"/>
            <a:ext cx="3714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93.89%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04825" y="4110037"/>
            <a:ext cx="3714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Độ chính xác trên tập kiểm thử (Test Accuracy)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238625" y="3481387"/>
            <a:ext cx="3714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79-83ms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4238625" y="4205287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Tổng thời gian xử lý mỗi cửa sổ 1 giây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972425" y="3481387"/>
            <a:ext cx="3714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30.2 KB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7972425" y="4205287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Dung lượng trọng số mô hình INT8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609600" y="2905125"/>
            <a:ext cx="5353050" cy="2066925"/>
          </a:xfrm>
          <a:prstGeom prst="roundRect">
            <a:avLst>
              <a:gd fmla="val 552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6229350" y="2809875"/>
            <a:ext cx="5353050" cy="2257425"/>
          </a:xfrm>
          <a:prstGeom prst="roundRect">
            <a:avLst>
              <a:gd fmla="val 506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609600" y="533400"/>
            <a:ext cx="11582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Hậu xử lý &amp; Thực nghiệm phần cứng</a:t>
            </a:r>
            <a:endParaRPr sz="2300"/>
          </a:p>
        </p:txBody>
      </p:sp>
      <p:sp>
        <p:nvSpPr>
          <p:cNvPr id="186" name="Google Shape;186;p19"/>
          <p:cNvSpPr txBox="1"/>
          <p:nvPr/>
        </p:nvSpPr>
        <p:spPr>
          <a:xfrm>
            <a:off x="609600" y="1344250"/>
            <a:ext cx="11582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Bộ lọc quyết định Hysteresis và khả năng chống báo giả</a:t>
            </a:r>
            <a:endParaRPr sz="2300"/>
          </a:p>
        </p:txBody>
      </p:sp>
      <p:sp>
        <p:nvSpPr>
          <p:cNvPr id="187" name="Google Shape;187;p19"/>
          <p:cNvSpPr txBox="1"/>
          <p:nvPr/>
        </p:nvSpPr>
        <p:spPr>
          <a:xfrm>
            <a:off x="914400" y="3209925"/>
            <a:ext cx="6225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Bộ lọc Hysteresis</a:t>
            </a:r>
            <a:endParaRPr sz="1600"/>
          </a:p>
        </p:txBody>
      </p:sp>
      <p:sp>
        <p:nvSpPr>
          <p:cNvPr id="188" name="Google Shape;188;p19"/>
          <p:cNvSpPr txBox="1"/>
          <p:nvPr/>
        </p:nvSpPr>
        <p:spPr>
          <a:xfrm>
            <a:off x="914400" y="3562350"/>
            <a:ext cx="483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Ngưỡng vào: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Điểm crying ≥ 0,80 chuyển sang trạng thái ĐANG KHÓC.</a:t>
            </a:r>
            <a:endParaRPr sz="1600"/>
          </a:p>
        </p:txBody>
      </p:sp>
      <p:sp>
        <p:nvSpPr>
          <p:cNvPr id="189" name="Google Shape;189;p19"/>
          <p:cNvSpPr txBox="1"/>
          <p:nvPr/>
        </p:nvSpPr>
        <p:spPr>
          <a:xfrm>
            <a:off x="914400" y="4019550"/>
            <a:ext cx="592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Ngưỡng ra: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Điểm crying &lt; 0,50 quay về trạng thái YÊN BÌNH.</a:t>
            </a:r>
            <a:endParaRPr sz="1600"/>
          </a:p>
        </p:txBody>
      </p:sp>
      <p:sp>
        <p:nvSpPr>
          <p:cNvPr id="190" name="Google Shape;190;p19"/>
          <p:cNvSpPr txBox="1"/>
          <p:nvPr/>
        </p:nvSpPr>
        <p:spPr>
          <a:xfrm>
            <a:off x="914400" y="4286250"/>
            <a:ext cx="483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Hiệu quả: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Ngăn chặn tình trạng nhấp nháy trạng thái và tránh ghi trùng lịch sử.</a:t>
            </a:r>
            <a:endParaRPr sz="1600"/>
          </a:p>
        </p:txBody>
      </p:sp>
      <p:sp>
        <p:nvSpPr>
          <p:cNvPr id="191" name="Google Shape;191;p19"/>
          <p:cNvSpPr txBox="1"/>
          <p:nvPr/>
        </p:nvSpPr>
        <p:spPr>
          <a:xfrm>
            <a:off x="6534150" y="3114675"/>
            <a:ext cx="5658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Kết quả thực nghiệm</a:t>
            </a:r>
            <a:endParaRPr sz="1600"/>
          </a:p>
        </p:txBody>
      </p:sp>
      <p:sp>
        <p:nvSpPr>
          <p:cNvPr id="192" name="Google Shape;192;p19"/>
          <p:cNvSpPr txBox="1"/>
          <p:nvPr/>
        </p:nvSpPr>
        <p:spPr>
          <a:xfrm>
            <a:off x="6534150" y="3467100"/>
            <a:ext cx="483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Hệ số khuếch đại: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Chọn `MIC_GAIN = 6.0` tối ưu dải động tín hiệu.</a:t>
            </a:r>
            <a:endParaRPr sz="1600"/>
          </a:p>
        </p:txBody>
      </p:sp>
      <p:sp>
        <p:nvSpPr>
          <p:cNvPr id="193" name="Google Shape;193;p19"/>
          <p:cNvSpPr txBox="1"/>
          <p:nvPr/>
        </p:nvSpPr>
        <p:spPr>
          <a:xfrm>
            <a:off x="6534150" y="3924300"/>
            <a:ext cx="483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Khả năng nhận diện: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Nhạy bén với tiếng khóc trong môi trường có tạp âm.</a:t>
            </a:r>
            <a:endParaRPr sz="1600"/>
          </a:p>
        </p:txBody>
      </p:sp>
      <p:sp>
        <p:nvSpPr>
          <p:cNvPr id="194" name="Google Shape;194;p19"/>
          <p:cNvSpPr txBox="1"/>
          <p:nvPr/>
        </p:nvSpPr>
        <p:spPr>
          <a:xfrm>
            <a:off x="6534150" y="4381500"/>
            <a:ext cx="483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Báo giả: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Không ghi nhận báo động giả trong các mẫu kiểm thử thuần tạp âm.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304850" y="2630187"/>
            <a:ext cx="3530700" cy="1086000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026024" y="2682612"/>
            <a:ext cx="3530700" cy="1086000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7747199" y="2630262"/>
            <a:ext cx="3530700" cy="1086000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609600" y="533400"/>
            <a:ext cx="1158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Phần mềm ứng dụng di động (React Native)</a:t>
            </a:r>
            <a:endParaRPr sz="2200"/>
          </a:p>
        </p:txBody>
      </p:sp>
      <p:sp>
        <p:nvSpPr>
          <p:cNvPr id="203" name="Google Shape;203;p20"/>
          <p:cNvSpPr txBox="1"/>
          <p:nvPr/>
        </p:nvSpPr>
        <p:spPr>
          <a:xfrm>
            <a:off x="609600" y="1386200"/>
            <a:ext cx="1158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Xây dựng ứng dụng đa nền tảng bằng React Native kết hợp Expo Router</a:t>
            </a:r>
            <a:endParaRPr sz="2200"/>
          </a:p>
        </p:txBody>
      </p:sp>
      <p:sp>
        <p:nvSpPr>
          <p:cNvPr id="204" name="Google Shape;204;p20"/>
          <p:cNvSpPr txBox="1"/>
          <p:nvPr/>
        </p:nvSpPr>
        <p:spPr>
          <a:xfrm>
            <a:off x="533450" y="2732937"/>
            <a:ext cx="403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Định tuyến Expo Router</a:t>
            </a:r>
            <a:endParaRPr sz="1700"/>
          </a:p>
        </p:txBody>
      </p:sp>
      <p:sp>
        <p:nvSpPr>
          <p:cNvPr id="205" name="Google Shape;205;p20"/>
          <p:cNvSpPr txBox="1"/>
          <p:nvPr/>
        </p:nvSpPr>
        <p:spPr>
          <a:xfrm>
            <a:off x="533450" y="2999637"/>
            <a:ext cx="31686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Cấu trúc file-based routing hiện đại, quản lý tab và ngăn xếp màn hình tối ưu.</a:t>
            </a:r>
            <a:endParaRPr sz="1700"/>
          </a:p>
        </p:txBody>
      </p:sp>
      <p:sp>
        <p:nvSpPr>
          <p:cNvPr id="206" name="Google Shape;206;p20"/>
          <p:cNvSpPr txBox="1"/>
          <p:nvPr/>
        </p:nvSpPr>
        <p:spPr>
          <a:xfrm>
            <a:off x="4254599" y="2732937"/>
            <a:ext cx="403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Giám sát Realtime</a:t>
            </a:r>
            <a:endParaRPr sz="1700"/>
          </a:p>
        </p:txBody>
      </p:sp>
      <p:sp>
        <p:nvSpPr>
          <p:cNvPr id="207" name="Google Shape;207;p20"/>
          <p:cNvSpPr txBox="1"/>
          <p:nvPr/>
        </p:nvSpPr>
        <p:spPr>
          <a:xfrm>
            <a:off x="4254599" y="2999637"/>
            <a:ext cx="31686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Lắng nghe sự thay đổi trạng thái bé và lịch sử cảnh báo trực tiếp từ Firebase.</a:t>
            </a:r>
            <a:endParaRPr sz="1700"/>
          </a:p>
        </p:txBody>
      </p:sp>
      <p:sp>
        <p:nvSpPr>
          <p:cNvPr id="208" name="Google Shape;208;p20"/>
          <p:cNvSpPr txBox="1"/>
          <p:nvPr/>
        </p:nvSpPr>
        <p:spPr>
          <a:xfrm>
            <a:off x="7975749" y="2732937"/>
            <a:ext cx="3911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Phát âm thanh cảnh báo</a:t>
            </a:r>
            <a:endParaRPr sz="1700"/>
          </a:p>
        </p:txBody>
      </p:sp>
      <p:sp>
        <p:nvSpPr>
          <p:cNvPr id="209" name="Google Shape;209;p20"/>
          <p:cNvSpPr txBox="1"/>
          <p:nvPr/>
        </p:nvSpPr>
        <p:spPr>
          <a:xfrm>
            <a:off x="7975749" y="2999637"/>
            <a:ext cx="31686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Sử dụng thư viện `react-native-sound` quản lý và phát nhạc chuông tùy chỉnh.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609600" y="3095625"/>
            <a:ext cx="5353050" cy="1685925"/>
          </a:xfrm>
          <a:prstGeom prst="roundRect">
            <a:avLst>
              <a:gd fmla="val 677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6229350" y="2809875"/>
            <a:ext cx="5353050" cy="2257425"/>
          </a:xfrm>
          <a:prstGeom prst="roundRect">
            <a:avLst>
              <a:gd fmla="val 506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609600" y="533400"/>
            <a:ext cx="1158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Kiểm thử ứng dụng &amp; Đánh giá hiệu năng</a:t>
            </a:r>
            <a:endParaRPr b="1" sz="2400"/>
          </a:p>
        </p:txBody>
      </p:sp>
      <p:sp>
        <p:nvSpPr>
          <p:cNvPr id="217" name="Google Shape;217;p21"/>
          <p:cNvSpPr txBox="1"/>
          <p:nvPr/>
        </p:nvSpPr>
        <p:spPr>
          <a:xfrm>
            <a:off x="609600" y="1553975"/>
            <a:ext cx="1158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Kết quả đo đạc độ trễ đồng bộ và độ ổn định thực tế trên thiết bị Android</a:t>
            </a:r>
            <a:endParaRPr sz="2400"/>
          </a:p>
        </p:txBody>
      </p:sp>
      <p:sp>
        <p:nvSpPr>
          <p:cNvPr id="218" name="Google Shape;218;p21"/>
          <p:cNvSpPr txBox="1"/>
          <p:nvPr/>
        </p:nvSpPr>
        <p:spPr>
          <a:xfrm>
            <a:off x="914400" y="3400425"/>
            <a:ext cx="6225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Độ trễ đồng bộ (Trung bình)</a:t>
            </a:r>
            <a:endParaRPr sz="1600"/>
          </a:p>
        </p:txBody>
      </p:sp>
      <p:sp>
        <p:nvSpPr>
          <p:cNvPr id="219" name="Google Shape;219;p21"/>
          <p:cNvSpPr txBox="1"/>
          <p:nvPr/>
        </p:nvSpPr>
        <p:spPr>
          <a:xfrm>
            <a:off x="914400" y="3752850"/>
            <a:ext cx="592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T1 (ESP32 phát hiện):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~1,42 giây</a:t>
            </a:r>
            <a:endParaRPr sz="1600"/>
          </a:p>
        </p:txBody>
      </p:sp>
      <p:sp>
        <p:nvSpPr>
          <p:cNvPr id="220" name="Google Shape;220;p21"/>
          <p:cNvSpPr txBox="1"/>
          <p:nvPr/>
        </p:nvSpPr>
        <p:spPr>
          <a:xfrm>
            <a:off x="914400" y="4019550"/>
            <a:ext cx="592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T2 (Firebase đẩy về App):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~0,72 giây</a:t>
            </a:r>
            <a:endParaRPr sz="1600"/>
          </a:p>
        </p:txBody>
      </p:sp>
      <p:sp>
        <p:nvSpPr>
          <p:cNvPr id="221" name="Google Shape;221;p21"/>
          <p:cNvSpPr txBox="1"/>
          <p:nvPr/>
        </p:nvSpPr>
        <p:spPr>
          <a:xfrm>
            <a:off x="914400" y="4286250"/>
            <a:ext cx="592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Tổng độ trễ phản hồi: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~2,14 giây</a:t>
            </a:r>
            <a:endParaRPr sz="1600"/>
          </a:p>
        </p:txBody>
      </p:sp>
      <p:sp>
        <p:nvSpPr>
          <p:cNvPr id="222" name="Google Shape;222;p21"/>
          <p:cNvSpPr txBox="1"/>
          <p:nvPr/>
        </p:nvSpPr>
        <p:spPr>
          <a:xfrm>
            <a:off x="6534150" y="3114675"/>
            <a:ext cx="5658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Độ ổn định hệ thống</a:t>
            </a:r>
            <a:endParaRPr sz="1600"/>
          </a:p>
        </p:txBody>
      </p:sp>
      <p:sp>
        <p:nvSpPr>
          <p:cNvPr id="223" name="Google Shape;223;p21"/>
          <p:cNvSpPr txBox="1"/>
          <p:nvPr/>
        </p:nvSpPr>
        <p:spPr>
          <a:xfrm>
            <a:off x="6534150" y="3467100"/>
            <a:ext cx="483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Tương thích: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Hoạt động mượt mà trên thiết bị Android từ phiên bản 14.</a:t>
            </a:r>
            <a:endParaRPr sz="1600"/>
          </a:p>
        </p:txBody>
      </p:sp>
      <p:sp>
        <p:nvSpPr>
          <p:cNvPr id="224" name="Google Shape;224;p21"/>
          <p:cNvSpPr txBox="1"/>
          <p:nvPr/>
        </p:nvSpPr>
        <p:spPr>
          <a:xfrm>
            <a:off x="6534150" y="3924300"/>
            <a:ext cx="483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Kiểm thử chức năng: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Đạt yêu cầu đăng nhập, xem lịch sử và tùy chỉnh nhạc chuông.</a:t>
            </a:r>
            <a:endParaRPr sz="1600"/>
          </a:p>
        </p:txBody>
      </p:sp>
      <p:sp>
        <p:nvSpPr>
          <p:cNvPr id="225" name="Google Shape;225;p21"/>
          <p:cNvSpPr txBox="1"/>
          <p:nvPr/>
        </p:nvSpPr>
        <p:spPr>
          <a:xfrm>
            <a:off x="6534150" y="4381500"/>
            <a:ext cx="483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Hạn chế ghi nhận: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Cảnh báo hiện tại phụ thuộc vào ứng dụng đang mở (foreground).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/>
          <p:nvPr/>
        </p:nvSpPr>
        <p:spPr>
          <a:xfrm>
            <a:off x="476250" y="2386325"/>
            <a:ext cx="5334000" cy="1628700"/>
          </a:xfrm>
          <a:prstGeom prst="roundRect">
            <a:avLst>
              <a:gd fmla="val 701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6115050" y="2386325"/>
            <a:ext cx="5334000" cy="1628700"/>
          </a:xfrm>
          <a:prstGeom prst="roundRect">
            <a:avLst>
              <a:gd fmla="val 701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476250" y="2386325"/>
            <a:ext cx="38100" cy="1628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6115050" y="2386325"/>
            <a:ext cx="38100" cy="1628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476250" y="902950"/>
            <a:ext cx="115824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TỔNG KẾT ĐỒ ÁN</a:t>
            </a:r>
            <a:endParaRPr sz="2500"/>
          </a:p>
        </p:txBody>
      </p:sp>
      <p:sp>
        <p:nvSpPr>
          <p:cNvPr id="235" name="Google Shape;235;p22"/>
          <p:cNvSpPr txBox="1"/>
          <p:nvPr/>
        </p:nvSpPr>
        <p:spPr>
          <a:xfrm>
            <a:off x="476250" y="1217275"/>
            <a:ext cx="11582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Kết luận &amp; Hướng phát triển</a:t>
            </a:r>
            <a:endParaRPr sz="2500"/>
          </a:p>
        </p:txBody>
      </p:sp>
      <p:sp>
        <p:nvSpPr>
          <p:cNvPr id="236" name="Google Shape;236;p22"/>
          <p:cNvSpPr txBox="1"/>
          <p:nvPr/>
        </p:nvSpPr>
        <p:spPr>
          <a:xfrm>
            <a:off x="781050" y="2653025"/>
            <a:ext cx="625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Kết quả đạt được</a:t>
            </a:r>
            <a:endParaRPr sz="1700"/>
          </a:p>
        </p:txBody>
      </p:sp>
      <p:sp>
        <p:nvSpPr>
          <p:cNvPr id="237" name="Google Shape;237;p22"/>
          <p:cNvSpPr txBox="1"/>
          <p:nvPr/>
        </p:nvSpPr>
        <p:spPr>
          <a:xfrm>
            <a:off x="781050" y="2967350"/>
            <a:ext cx="4857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Hoàn thiện toàn diện hệ thống phần cứng Edge AI và ứng dụng di động.</a:t>
            </a:r>
            <a:endParaRPr sz="1700"/>
          </a:p>
        </p:txBody>
      </p:sp>
      <p:sp>
        <p:nvSpPr>
          <p:cNvPr id="238" name="Google Shape;238;p22"/>
          <p:cNvSpPr txBox="1"/>
          <p:nvPr/>
        </p:nvSpPr>
        <p:spPr>
          <a:xfrm>
            <a:off x="781050" y="3386450"/>
            <a:ext cx="4857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Mô hình TinyML chạy mượt mà, bảo mật riêng tư tuyệt đối cho gia đình.</a:t>
            </a:r>
            <a:endParaRPr sz="1700"/>
          </a:p>
        </p:txBody>
      </p:sp>
      <p:sp>
        <p:nvSpPr>
          <p:cNvPr id="239" name="Google Shape;239;p22"/>
          <p:cNvSpPr txBox="1"/>
          <p:nvPr/>
        </p:nvSpPr>
        <p:spPr>
          <a:xfrm>
            <a:off x="6419850" y="2653025"/>
            <a:ext cx="5638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Hướng phát triển</a:t>
            </a:r>
            <a:endParaRPr sz="1700"/>
          </a:p>
        </p:txBody>
      </p:sp>
      <p:sp>
        <p:nvSpPr>
          <p:cNvPr id="240" name="Google Shape;240;p22"/>
          <p:cNvSpPr txBox="1"/>
          <p:nvPr/>
        </p:nvSpPr>
        <p:spPr>
          <a:xfrm>
            <a:off x="6419850" y="2967350"/>
            <a:ext cx="4857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Tích hợp Firebase Cloud Messaging (FCM) thông báo đẩy nền.</a:t>
            </a:r>
            <a:endParaRPr sz="1700"/>
          </a:p>
        </p:txBody>
      </p:sp>
      <p:sp>
        <p:nvSpPr>
          <p:cNvPr id="241" name="Google Shape;241;p22"/>
          <p:cNvSpPr txBox="1"/>
          <p:nvPr/>
        </p:nvSpPr>
        <p:spPr>
          <a:xfrm>
            <a:off x="6457950" y="3386450"/>
            <a:ext cx="4857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Mở rộng tập dữ liệu huấn luyện và nâng cấp bảo mật phân quyền thiết bị.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